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07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97945" y="1376511"/>
            <a:ext cx="1547961" cy="412552"/>
          </a:xfrm>
          <a:prstGeom prst="roundRect">
            <a:avLst>
              <a:gd name="adj" fmla="val 12314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02745" y="1478012"/>
            <a:ext cx="9571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71228" y="2042964"/>
            <a:ext cx="780139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Vector Retrieval &amp; RAG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119597" y="2852589"/>
            <a:ext cx="49046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220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Personal Wellness Assistant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5032" y="3557439"/>
            <a:ext cx="36537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Text to Vectors to Intelligent Responses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80383" y="4534049"/>
            <a:ext cx="16148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 Bootcamp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1000" y="1545878"/>
            <a:ext cx="3937099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1000" y="1234827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707803"/>
            <a:ext cx="3937099" cy="166568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92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as Semantic Representations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Text converted to numerical vectors captures meaning</a:t>
            </a:r>
            <a:endParaRPr lang="en-US" sz="1200" dirty="0"/>
          </a:p>
          <a:p>
            <a:pPr marL="114300" indent="-114300" algn="l">
              <a:lnSpc>
                <a:spcPts val="192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Strategy Matters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Document splitting affects retrieval quality</a:t>
            </a:r>
            <a:endParaRPr lang="en-US" sz="1200" dirty="0"/>
          </a:p>
          <a:p>
            <a:pPr marL="114300" indent="-114300" algn="l">
              <a:lnSpc>
                <a:spcPts val="192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Similarity Search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Cosine similarity finds semantically relevant content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4951" y="1234827"/>
            <a:ext cx="0" cy="3591223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17902" y="1545878"/>
            <a:ext cx="3645098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17902" y="1234827"/>
            <a:ext cx="3718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Skills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17902" y="1707803"/>
            <a:ext cx="3645098" cy="166568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92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RAG Pattern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Retrieve, Augment, Generate for grounded responses</a:t>
            </a:r>
            <a:endParaRPr lang="en-US" sz="1200" dirty="0"/>
          </a:p>
          <a:p>
            <a:pPr marL="114300" indent="-114300" algn="l">
              <a:lnSpc>
                <a:spcPts val="192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for Batch Operations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Concurrent API calls reduce embedding time</a:t>
            </a:r>
            <a:endParaRPr lang="en-US" sz="1200" dirty="0"/>
          </a:p>
          <a:p>
            <a:pPr marL="114300" indent="-114300" algn="l">
              <a:lnSpc>
                <a:spcPts val="192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Prompting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System/User/Assistant structure for conversations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RAG Pipeline: 5-Step Process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1082576"/>
            <a:ext cx="8382000" cy="647700"/>
          </a:xfrm>
          <a:prstGeom prst="roundRect">
            <a:avLst>
              <a:gd name="adj" fmla="val 1176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0979" y="1273076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= Dense Vector Retrieval + In-Context Learning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2501" y="1984177"/>
            <a:ext cx="1473398" cy="2905423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2501" y="2007989"/>
            <a:ext cx="1473398" cy="0"/>
          </a:xfrm>
          <a:prstGeom prst="line">
            <a:avLst/>
          </a:prstGeom>
          <a:noFill/>
          <a:ln w="47625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6800" y="21842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63752" y="2236954"/>
            <a:ext cx="31089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3215" y="2590502"/>
            <a:ext cx="11919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Database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3215" y="3066752"/>
            <a:ext cx="119197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documents and embed into vectors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58901" y="1984177"/>
            <a:ext cx="1473398" cy="2905423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158901" y="2007989"/>
            <a:ext cx="1473398" cy="0"/>
          </a:xfrm>
          <a:prstGeom prst="line">
            <a:avLst/>
          </a:prstGeom>
          <a:noFill/>
          <a:ln w="47625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0" y="21842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40152" y="2236954"/>
            <a:ext cx="31089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99615" y="2590502"/>
            <a:ext cx="1191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99615" y="2866727"/>
            <a:ext cx="119197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the user query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35301" y="1984177"/>
            <a:ext cx="1473398" cy="2905423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835301" y="2007989"/>
            <a:ext cx="1473398" cy="0"/>
          </a:xfrm>
          <a:prstGeom prst="line">
            <a:avLst/>
          </a:prstGeom>
          <a:noFill/>
          <a:ln w="47625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19600" y="21842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16552" y="2236954"/>
            <a:ext cx="31089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76015" y="2590502"/>
            <a:ext cx="11919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References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6015" y="3066752"/>
            <a:ext cx="119197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embeddings via cosine similarity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11701" y="1984177"/>
            <a:ext cx="1473398" cy="2905423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511701" y="2007989"/>
            <a:ext cx="1473398" cy="0"/>
          </a:xfrm>
          <a:prstGeom prst="line">
            <a:avLst/>
          </a:prstGeom>
          <a:noFill/>
          <a:ln w="47625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96000" y="21842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92952" y="2236954"/>
            <a:ext cx="31089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52415" y="2590502"/>
            <a:ext cx="11919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 Prompt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52415" y="3066752"/>
            <a:ext cx="119197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retrieved context to the prompt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88101" y="1984177"/>
            <a:ext cx="1473398" cy="2905423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188101" y="2007989"/>
            <a:ext cx="1473398" cy="0"/>
          </a:xfrm>
          <a:prstGeom prst="line">
            <a:avLst/>
          </a:prstGeom>
          <a:noFill/>
          <a:ln w="47625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0" y="21842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769352" y="2236954"/>
            <a:ext cx="31089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28815" y="2590502"/>
            <a:ext cx="1191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28815" y="2866727"/>
            <a:ext cx="119197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grounded response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aimakerspace Library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1019175"/>
            <a:ext cx="1384250" cy="460177"/>
          </a:xfrm>
          <a:prstGeom prst="roundRect">
            <a:avLst>
              <a:gd name="adj" fmla="val 1103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2605" y="1120676"/>
            <a:ext cx="11010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2605" y="1263551"/>
            <a:ext cx="11010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.txt / .pdf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41450" y="1144488"/>
            <a:ext cx="166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80617" y="1019175"/>
            <a:ext cx="1384250" cy="460177"/>
          </a:xfrm>
          <a:prstGeom prst="roundRect">
            <a:avLst>
              <a:gd name="adj" fmla="val 11039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22223" y="1120676"/>
            <a:ext cx="11010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TextFileLoader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22223" y="1263551"/>
            <a:ext cx="11010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text_utils.py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41068" y="1144488"/>
            <a:ext cx="166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80234" y="1019175"/>
            <a:ext cx="1490216" cy="460177"/>
          </a:xfrm>
          <a:prstGeom prst="roundRect">
            <a:avLst>
              <a:gd name="adj" fmla="val 11039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20780" y="1120676"/>
            <a:ext cx="12091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CharacterTextSplitter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20780" y="1263551"/>
            <a:ext cx="12091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text_utils.py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1000" y="2597200"/>
            <a:ext cx="1384250" cy="460177"/>
          </a:xfrm>
          <a:prstGeom prst="roundRect">
            <a:avLst>
              <a:gd name="adj" fmla="val 1103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2605" y="2698700"/>
            <a:ext cx="11010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VectorDatabase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2605" y="2841575"/>
            <a:ext cx="11010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vectordatabase.py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41450" y="2722513"/>
            <a:ext cx="166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&lt;-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80617" y="2597200"/>
            <a:ext cx="1384250" cy="460177"/>
          </a:xfrm>
          <a:prstGeom prst="roundRect">
            <a:avLst>
              <a:gd name="adj" fmla="val 11039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222223" y="2698700"/>
            <a:ext cx="11010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22223" y="2841575"/>
            <a:ext cx="11010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embedding.py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41068" y="2722513"/>
            <a:ext cx="166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&lt;-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80234" y="2597200"/>
            <a:ext cx="1384250" cy="460177"/>
          </a:xfrm>
          <a:prstGeom prst="roundRect">
            <a:avLst>
              <a:gd name="adj" fmla="val 1103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21840" y="2698700"/>
            <a:ext cx="11010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21840" y="2841575"/>
            <a:ext cx="11010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List[str]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1000" y="4175224"/>
            <a:ext cx="1384250" cy="460177"/>
          </a:xfrm>
          <a:prstGeom prst="roundRect">
            <a:avLst>
              <a:gd name="adj" fmla="val 11039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2605" y="4276725"/>
            <a:ext cx="11010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ChatOpenAI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2605" y="4419600"/>
            <a:ext cx="11010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chatmodel.py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41450" y="4300538"/>
            <a:ext cx="166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&lt;-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080617" y="4175224"/>
            <a:ext cx="1384250" cy="460177"/>
          </a:xfrm>
          <a:prstGeom prst="roundRect">
            <a:avLst>
              <a:gd name="adj" fmla="val 11039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222223" y="4276725"/>
            <a:ext cx="11010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RolePrompts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22223" y="4419600"/>
            <a:ext cx="11010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prompts.py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41068" y="4300538"/>
            <a:ext cx="166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&lt;-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80234" y="4175224"/>
            <a:ext cx="1384250" cy="460177"/>
          </a:xfrm>
          <a:prstGeom prst="roundRect">
            <a:avLst>
              <a:gd name="adj" fmla="val 1103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921840" y="4276725"/>
            <a:ext cx="11010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Context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21840" y="4419600"/>
            <a:ext cx="11010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Results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121575" y="1019175"/>
            <a:ext cx="0" cy="1053703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21600" y="1019175"/>
            <a:ext cx="14702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Types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21600" y="1273076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550200" y="1282601"/>
            <a:ext cx="2463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21600" y="1488877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550200" y="1498402"/>
            <a:ext cx="5768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21600" y="1704677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50200" y="1714202"/>
            <a:ext cx="408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21600" y="1920478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550200" y="1930003"/>
            <a:ext cx="5768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Document Loading (text_utils.py)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41193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TextFileLoader</a:t>
            </a:r>
            <a:endParaRPr lang="en-US" sz="1400" dirty="0"/>
          </a:p>
        </p:txBody>
      </p:sp>
      <p:pic>
        <p:nvPicPr>
          <p:cNvPr id="5" name="Image 0" descr="/home/donbr/AIE9/AIE9-Staging/02_Dense_Vector_Retrieval/workspace/code-images/slide05-code1.png"/>
          <p:cNvPicPr>
            <a:picLocks noChangeAspect="1"/>
          </p:cNvPicPr>
          <p:nvPr/>
        </p:nvPicPr>
        <p:blipFill>
          <a:blip r:embed="rId3"/>
          <a:srcRect r="64485"/>
          <a:stretch>
            <a:fillRect/>
          </a:stretch>
        </p:blipFill>
        <p:spPr>
          <a:xfrm>
            <a:off x="380999" y="1222176"/>
            <a:ext cx="4038601" cy="15869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2944371"/>
            <a:ext cx="4038600" cy="9900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57213" y="3122072"/>
            <a:ext cx="0" cy="634603"/>
          </a:xfrm>
          <a:prstGeom prst="line">
            <a:avLst/>
          </a:prstGeom>
          <a:noFill/>
          <a:ln w="47625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3425" y="3122072"/>
            <a:ext cx="360445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3425" y="3350523"/>
            <a:ext cx="360445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single files or directories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3425" y="3578974"/>
            <a:ext cx="360445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encoding (UTF-8 default)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24400" y="911126"/>
            <a:ext cx="41193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Example</a:t>
            </a:r>
            <a:endParaRPr lang="en-US" sz="1400" dirty="0"/>
          </a:p>
        </p:txBody>
      </p:sp>
      <p:pic>
        <p:nvPicPr>
          <p:cNvPr id="12" name="Image 1" descr="/home/donbr/AIE9/AIE9-Staging/02_Dense_Vector_Retrieval/workspace/code-images/slide05-code2.png"/>
          <p:cNvPicPr>
            <a:picLocks noChangeAspect="1"/>
          </p:cNvPicPr>
          <p:nvPr/>
        </p:nvPicPr>
        <p:blipFill>
          <a:blip r:embed="rId4"/>
          <a:srcRect r="64485"/>
          <a:stretch>
            <a:fillRect/>
          </a:stretch>
        </p:blipFill>
        <p:spPr>
          <a:xfrm>
            <a:off x="4724400" y="1222177"/>
            <a:ext cx="4038600" cy="15869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4400" y="2944371"/>
            <a:ext cx="4038600" cy="939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4900613" y="3122072"/>
            <a:ext cx="0" cy="583853"/>
          </a:xfrm>
          <a:prstGeom prst="line">
            <a:avLst/>
          </a:prstGeom>
          <a:noFill/>
          <a:ln w="47625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076825" y="3122072"/>
            <a:ext cx="360445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Load First?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076825" y="3350523"/>
            <a:ext cx="360445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text must be loaded into memory before chunking. The loader abstracts file I/O.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Text Chunking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CharacterTextSplitter</a:t>
            </a:r>
            <a:endParaRPr lang="en-US" sz="1200" dirty="0"/>
          </a:p>
        </p:txBody>
      </p:sp>
      <p:pic>
        <p:nvPicPr>
          <p:cNvPr id="5" name="Image 0" descr="/home/donbr/AIE9/AIE9-Staging/02_Dense_Vector_Retrieval/workspace/code-images/slide06-code1.png"/>
          <p:cNvPicPr>
            <a:picLocks noChangeAspect="1"/>
          </p:cNvPicPr>
          <p:nvPr/>
        </p:nvPicPr>
        <p:blipFill>
          <a:blip r:embed="rId3"/>
          <a:srcRect r="59420"/>
          <a:stretch>
            <a:fillRect/>
          </a:stretch>
        </p:blipFill>
        <p:spPr>
          <a:xfrm>
            <a:off x="380999" y="1158776"/>
            <a:ext cx="4038601" cy="1732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3043182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Parameters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1000" y="3290832"/>
            <a:ext cx="4038600" cy="583853"/>
          </a:xfrm>
          <a:prstGeom prst="roundRect">
            <a:avLst>
              <a:gd name="adj" fmla="val 87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82501" y="3443083"/>
            <a:ext cx="3912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chunk_size:</a:t>
            </a: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1000 chars (max per chunk)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2501" y="3608133"/>
            <a:ext cx="3912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chunk_overlap:</a:t>
            </a: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200 chars (shared)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24400" y="91112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Overlap Matters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24400" y="1158776"/>
            <a:ext cx="4038600" cy="913805"/>
          </a:xfrm>
          <a:prstGeom prst="roundRect">
            <a:avLst>
              <a:gd name="adj" fmla="val 55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25901" y="1311027"/>
            <a:ext cx="3912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with overlap: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825901" y="1488728"/>
            <a:ext cx="762000" cy="253901"/>
          </a:xfrm>
          <a:prstGeom prst="roundRect">
            <a:avLst>
              <a:gd name="adj" fmla="val 15006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17740" y="1558528"/>
            <a:ext cx="3857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435501" y="1488728"/>
            <a:ext cx="762000" cy="253901"/>
          </a:xfrm>
          <a:prstGeom prst="roundRect">
            <a:avLst>
              <a:gd name="adj" fmla="val 15006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627340" y="1558528"/>
            <a:ext cx="3857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45101" y="1488728"/>
            <a:ext cx="762000" cy="253901"/>
          </a:xfrm>
          <a:prstGeom prst="roundRect">
            <a:avLst>
              <a:gd name="adj" fmla="val 15006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236940" y="1558528"/>
            <a:ext cx="3857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25901" y="1806029"/>
            <a:ext cx="3912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ensures sentences at boundaries appear in both chunks.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24400" y="3040128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Result</a:t>
            </a:r>
            <a:endParaRPr lang="en-US" sz="1200" dirty="0"/>
          </a:p>
        </p:txBody>
      </p:sp>
      <p:pic>
        <p:nvPicPr>
          <p:cNvPr id="21" name="Image 1" descr="/home/donbr/AIE9/AIE9-Staging/02_Dense_Vector_Retrieval/workspace/code-images/slide06-code2.png"/>
          <p:cNvPicPr>
            <a:picLocks noChangeAspect="1"/>
          </p:cNvPicPr>
          <p:nvPr/>
        </p:nvPicPr>
        <p:blipFill>
          <a:blip r:embed="rId4"/>
          <a:srcRect r="62044"/>
          <a:stretch>
            <a:fillRect/>
          </a:stretch>
        </p:blipFill>
        <p:spPr>
          <a:xfrm>
            <a:off x="4724400" y="3287777"/>
            <a:ext cx="4038600" cy="758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Embedding Generation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EmbeddingModel Class</a:t>
            </a:r>
            <a:endParaRPr lang="en-US" sz="1200" dirty="0"/>
          </a:p>
        </p:txBody>
      </p:sp>
      <p:pic>
        <p:nvPicPr>
          <p:cNvPr id="5" name="Image 0" descr="/home/donbr/AIE9/AIE9-Staging/02_Dense_Vector_Retrieval/workspace/code-images/slide07-code1.png"/>
          <p:cNvPicPr>
            <a:picLocks noChangeAspect="1"/>
          </p:cNvPicPr>
          <p:nvPr/>
        </p:nvPicPr>
        <p:blipFill>
          <a:blip r:embed="rId3"/>
          <a:srcRect r="56977"/>
          <a:stretch>
            <a:fillRect/>
          </a:stretch>
        </p:blipFill>
        <p:spPr>
          <a:xfrm>
            <a:off x="380999" y="1158776"/>
            <a:ext cx="4038601" cy="18427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3159445"/>
            <a:ext cx="4038600" cy="469702"/>
          </a:xfrm>
          <a:prstGeom prst="roundRect">
            <a:avLst>
              <a:gd name="adj" fmla="val 10815"/>
            </a:avLst>
          </a:prstGeom>
          <a:solidFill>
            <a:srgbClr val="FDEBD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82501" y="3260946"/>
            <a:ext cx="3912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Async?</a:t>
            </a: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Concurrent API calls reduce total wait time for batch embedding.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24400" y="91112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text-embedding-3-small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24400" y="1158776"/>
            <a:ext cx="4038600" cy="996851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51350" y="1285726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51350" y="1514326"/>
            <a:ext cx="3860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Window:</a:t>
            </a: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8,192 tokens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51350" y="1685776"/>
            <a:ext cx="3860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Dimensions:</a:t>
            </a: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1,536 (default)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51350" y="1857226"/>
            <a:ext cx="3860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Reduction:</a:t>
            </a: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Supported via API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24400" y="316273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Matryoshka Representation</a:t>
            </a:r>
            <a:endParaRPr lang="en-US" sz="1200" dirty="0"/>
          </a:p>
        </p:txBody>
      </p:sp>
      <p:pic>
        <p:nvPicPr>
          <p:cNvPr id="15" name="Image 1" descr="/home/donbr/AIE9/AIE9-Staging/02_Dense_Vector_Retrieval/workspace/code-images/slide07-code2.png"/>
          <p:cNvPicPr>
            <a:picLocks noChangeAspect="1"/>
          </p:cNvPicPr>
          <p:nvPr/>
        </p:nvPicPr>
        <p:blipFill>
          <a:blip r:embed="rId4"/>
          <a:srcRect r="61652"/>
          <a:stretch>
            <a:fillRect/>
          </a:stretch>
        </p:blipFill>
        <p:spPr>
          <a:xfrm>
            <a:off x="4724400" y="3410386"/>
            <a:ext cx="4038600" cy="12275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Vector Storage and 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49432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VectorDatabase Class</a:t>
            </a:r>
            <a:endParaRPr lang="en-US" sz="1200" dirty="0"/>
          </a:p>
        </p:txBody>
      </p:sp>
      <p:pic>
        <p:nvPicPr>
          <p:cNvPr id="5" name="Image 0" descr="/home/donbr/AIE9/AIE9-Staging/02_Dense_Vector_Retrieval/workspace/code-images/slide08-code1.png"/>
          <p:cNvPicPr>
            <a:picLocks noChangeAspect="1"/>
          </p:cNvPicPr>
          <p:nvPr/>
        </p:nvPicPr>
        <p:blipFill>
          <a:blip r:embed="rId3"/>
          <a:srcRect r="51912"/>
          <a:stretch>
            <a:fillRect/>
          </a:stretch>
        </p:blipFill>
        <p:spPr>
          <a:xfrm>
            <a:off x="380999" y="1158776"/>
            <a:ext cx="4191001" cy="2111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32090" y="911126"/>
            <a:ext cx="3295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32090" y="1158776"/>
            <a:ext cx="3230910" cy="733127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29271" y="1285726"/>
            <a:ext cx="30365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Metric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59041" y="1504801"/>
            <a:ext cx="2977009" cy="260152"/>
          </a:xfrm>
          <a:prstGeom prst="roundRect">
            <a:avLst>
              <a:gd name="adj" fmla="val 1464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693939" y="1568202"/>
            <a:ext cx="29072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cos(A,B) = A.B / (||A|| * ||B||)</a:t>
            </a:r>
            <a:endParaRPr lang="en-US" sz="900" dirty="0"/>
          </a:p>
        </p:txBody>
      </p:sp>
      <p:pic>
        <p:nvPicPr>
          <p:cNvPr id="11" name="Image 1" descr="/home/donbr/AIE9/AIE9-Staging/02_Dense_Vector_Retrieval/workspace/code-images/slide08-code2.png"/>
          <p:cNvPicPr>
            <a:picLocks noChangeAspect="1"/>
          </p:cNvPicPr>
          <p:nvPr/>
        </p:nvPicPr>
        <p:blipFill>
          <a:blip r:embed="rId4"/>
          <a:srcRect r="69701"/>
          <a:stretch>
            <a:fillRect/>
          </a:stretch>
        </p:blipFill>
        <p:spPr>
          <a:xfrm>
            <a:off x="5532090" y="2019780"/>
            <a:ext cx="3230910" cy="10054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090" y="3101470"/>
            <a:ext cx="3295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200" dirty="0"/>
          </a:p>
        </p:txBody>
      </p:sp>
      <p:pic>
        <p:nvPicPr>
          <p:cNvPr id="13" name="Image 2" descr="/home/donbr/AIE9/AIE9-Staging/02_Dense_Vector_Retrieval/workspace/code-images/slide08-code3.png"/>
          <p:cNvPicPr>
            <a:picLocks noChangeAspect="1"/>
          </p:cNvPicPr>
          <p:nvPr/>
        </p:nvPicPr>
        <p:blipFill>
          <a:blip r:embed="rId5"/>
          <a:srcRect r="73900"/>
          <a:stretch>
            <a:fillRect/>
          </a:stretch>
        </p:blipFill>
        <p:spPr>
          <a:xfrm>
            <a:off x="5532089" y="3349120"/>
            <a:ext cx="3230911" cy="1442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Prompt Engineering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Message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58776"/>
            <a:ext cx="837902" cy="215801"/>
          </a:xfrm>
          <a:prstGeom prst="roundRect">
            <a:avLst>
              <a:gd name="adj" fmla="val 17655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152" y="1209526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20403" y="1158776"/>
            <a:ext cx="18013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assistant behavior and constraints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1000" y="1450777"/>
            <a:ext cx="837902" cy="215801"/>
          </a:xfrm>
          <a:prstGeom prst="roundRect">
            <a:avLst>
              <a:gd name="adj" fmla="val 17655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152" y="1501527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20403" y="1450777"/>
            <a:ext cx="19739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requests and context from human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1000" y="1742777"/>
            <a:ext cx="837902" cy="215801"/>
          </a:xfrm>
          <a:prstGeom prst="roundRect">
            <a:avLst>
              <a:gd name="adj" fmla="val 1765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152" y="1793528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20403" y="1742777"/>
            <a:ext cx="18184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previous responses or examples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1000" y="2034778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BasePrompt with Templates</a:t>
            </a:r>
            <a:endParaRPr lang="en-US" sz="1200" dirty="0"/>
          </a:p>
        </p:txBody>
      </p:sp>
      <p:pic>
        <p:nvPicPr>
          <p:cNvPr id="15" name="Image 0" descr="/home/donbr/AIE9/AIE9-Staging/02_Dense_Vector_Retrieval/workspace/code-images/slide09-code1.png"/>
          <p:cNvPicPr>
            <a:picLocks noChangeAspect="1"/>
          </p:cNvPicPr>
          <p:nvPr/>
        </p:nvPicPr>
        <p:blipFill>
          <a:blip r:embed="rId3"/>
          <a:srcRect r="67872"/>
          <a:stretch>
            <a:fillRect/>
          </a:stretch>
        </p:blipFill>
        <p:spPr>
          <a:xfrm>
            <a:off x="380999" y="2282428"/>
            <a:ext cx="3918911" cy="17022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724400" y="91112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RolePrompt Classes</a:t>
            </a:r>
            <a:endParaRPr lang="en-US" sz="1200" dirty="0"/>
          </a:p>
        </p:txBody>
      </p:sp>
      <p:pic>
        <p:nvPicPr>
          <p:cNvPr id="17" name="Image 1" descr="/home/donbr/AIE9/AIE9-Staging/02_Dense_Vector_Retrieval/workspace/code-images/slide09-code2.png"/>
          <p:cNvPicPr>
            <a:picLocks noChangeAspect="1"/>
          </p:cNvPicPr>
          <p:nvPr/>
        </p:nvPicPr>
        <p:blipFill>
          <a:blip r:embed="rId4"/>
          <a:srcRect r="44704"/>
          <a:stretch>
            <a:fillRect/>
          </a:stretch>
        </p:blipFill>
        <p:spPr>
          <a:xfrm>
            <a:off x="4724399" y="1158776"/>
            <a:ext cx="4000315" cy="1586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24400" y="282149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200" dirty="0"/>
          </a:p>
        </p:txBody>
      </p:sp>
      <p:pic>
        <p:nvPicPr>
          <p:cNvPr id="19" name="Image 2" descr="/home/donbr/AIE9/AIE9-Staging/02_Dense_Vector_Retrieval/workspace/code-images/slide09-code3.png"/>
          <p:cNvPicPr>
            <a:picLocks noChangeAspect="1"/>
          </p:cNvPicPr>
          <p:nvPr/>
        </p:nvPicPr>
        <p:blipFill>
          <a:blip r:embed="rId5"/>
          <a:srcRect r="62404"/>
          <a:stretch>
            <a:fillRect/>
          </a:stretch>
        </p:blipFill>
        <p:spPr>
          <a:xfrm>
            <a:off x="4724400" y="3069145"/>
            <a:ext cx="4000314" cy="7587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RAG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RetrievalAugmentedQAPipeline</a:t>
            </a:r>
            <a:endParaRPr lang="en-US" sz="1200" dirty="0"/>
          </a:p>
        </p:txBody>
      </p:sp>
      <p:pic>
        <p:nvPicPr>
          <p:cNvPr id="5" name="Image 0" descr="/home/donbr/AIE9/AIE9-Staging/02_Dense_Vector_Retrieval/workspace/code-images/slide10-code1.png"/>
          <p:cNvPicPr>
            <a:picLocks noChangeAspect="1"/>
          </p:cNvPicPr>
          <p:nvPr/>
        </p:nvPicPr>
        <p:blipFill>
          <a:blip r:embed="rId3"/>
          <a:srcRect r="65208"/>
          <a:stretch>
            <a:fillRect/>
          </a:stretch>
        </p:blipFill>
        <p:spPr>
          <a:xfrm>
            <a:off x="380999" y="1158775"/>
            <a:ext cx="3749413" cy="22394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4400" y="91112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Continued</a:t>
            </a:r>
            <a:endParaRPr lang="en-US" sz="1200" dirty="0"/>
          </a:p>
        </p:txBody>
      </p:sp>
      <p:pic>
        <p:nvPicPr>
          <p:cNvPr id="7" name="Image 1" descr="/home/donbr/AIE9/AIE9-Staging/02_Dense_Vector_Retrieval/workspace/code-images/slide10-code2.png"/>
          <p:cNvPicPr>
            <a:picLocks noChangeAspect="1"/>
          </p:cNvPicPr>
          <p:nvPr/>
        </p:nvPicPr>
        <p:blipFill>
          <a:blip r:embed="rId4"/>
          <a:srcRect r="64730"/>
          <a:stretch>
            <a:fillRect/>
          </a:stretch>
        </p:blipFill>
        <p:spPr>
          <a:xfrm>
            <a:off x="4724400" y="1158776"/>
            <a:ext cx="3259874" cy="2239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Approaches to RAG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80322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wellness assistant, different implementation patterns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" y="1193750"/>
            <a:ext cx="2658666" cy="3441799"/>
          </a:xfrm>
          <a:prstGeom prst="roundRect">
            <a:avLst>
              <a:gd name="adj" fmla="val 382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84250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7146" y="1487388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2851" y="1435001"/>
            <a:ext cx="13707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(aimakerspace)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2851" y="1644551"/>
            <a:ext cx="13707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" y="1981051"/>
            <a:ext cx="2277666" cy="227349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over every component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chunking with CharacterTextSplitter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VectorDatabase with cosine similarity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prompt construction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1500" y="4254550"/>
            <a:ext cx="2277666" cy="190500"/>
          </a:xfrm>
          <a:prstGeom prst="roundRect">
            <a:avLst>
              <a:gd name="adj" fmla="val 20000"/>
            </a:avLst>
          </a:prstGeom>
          <a:solidFill>
            <a:srgbClr val="D5E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3001" y="4292650"/>
            <a:ext cx="21161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Learning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42667" y="1193750"/>
            <a:ext cx="2658666" cy="3441799"/>
          </a:xfrm>
          <a:prstGeom prst="roundRect">
            <a:avLst>
              <a:gd name="adj" fmla="val 382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33167" y="1384250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98813" y="1487388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04518" y="1435001"/>
            <a:ext cx="9203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04518" y="1644551"/>
            <a:ext cx="920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Agents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33167" y="1981051"/>
            <a:ext cx="2277666" cy="227349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our VectorDatabase code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responses with Pydantic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dependency injection pattern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Tavily web search integration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33167" y="4254550"/>
            <a:ext cx="2277666" cy="190500"/>
          </a:xfrm>
          <a:prstGeom prst="roundRect">
            <a:avLst>
              <a:gd name="adj" fmla="val 20000"/>
            </a:avLst>
          </a:prstGeom>
          <a:solidFill>
            <a:srgbClr val="FFF2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34668" y="4292650"/>
            <a:ext cx="21161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Production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04334" y="1193750"/>
            <a:ext cx="2658666" cy="3441799"/>
          </a:xfrm>
          <a:prstGeom prst="roundRect">
            <a:avLst>
              <a:gd name="adj" fmla="val 382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94834" y="1384250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60480" y="1487388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66186" y="1435001"/>
            <a:ext cx="14085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Agents SDK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66186" y="1644551"/>
            <a:ext cx="14085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Infrastructure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94834" y="1981051"/>
            <a:ext cx="2277666" cy="227349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handles chunking and embedding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FileSearchTool for retrieval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WebSearchTool for current info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tracing and observability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94834" y="4254550"/>
            <a:ext cx="2277666" cy="190500"/>
          </a:xfrm>
          <a:prstGeom prst="roundRect">
            <a:avLst>
              <a:gd name="adj" fmla="val 20000"/>
            </a:avLst>
          </a:prstGeom>
          <a:solidFill>
            <a:srgbClr val="DAE8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96335" y="4292650"/>
            <a:ext cx="21161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Rapid Dev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PydanticAI Implementation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Injection Pattern</a:t>
            </a:r>
            <a:endParaRPr lang="en-US" sz="1200" dirty="0"/>
          </a:p>
        </p:txBody>
      </p:sp>
      <p:pic>
        <p:nvPicPr>
          <p:cNvPr id="5" name="Image 0" descr="/home/donbr/AIE9/AIE9-Staging/02_Dense_Vector_Retrieval/workspace/code-images/slide12-code1.png"/>
          <p:cNvPicPr>
            <a:picLocks noChangeAspect="1"/>
          </p:cNvPicPr>
          <p:nvPr/>
        </p:nvPicPr>
        <p:blipFill>
          <a:blip r:embed="rId3"/>
          <a:srcRect r="54483"/>
          <a:stretch>
            <a:fillRect/>
          </a:stretch>
        </p:blipFill>
        <p:spPr>
          <a:xfrm>
            <a:off x="380999" y="1158775"/>
            <a:ext cx="4038601" cy="18437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3135543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Definition</a:t>
            </a:r>
            <a:endParaRPr lang="en-US" sz="1200" dirty="0"/>
          </a:p>
        </p:txBody>
      </p:sp>
      <p:pic>
        <p:nvPicPr>
          <p:cNvPr id="7" name="Image 1" descr="/home/donbr/AIE9/AIE9-Staging/02_Dense_Vector_Retrieval/workspace/code-images/slide12-code2.png"/>
          <p:cNvPicPr>
            <a:picLocks noChangeAspect="1"/>
          </p:cNvPicPr>
          <p:nvPr/>
        </p:nvPicPr>
        <p:blipFill>
          <a:blip r:embed="rId4"/>
          <a:srcRect r="68280"/>
          <a:stretch>
            <a:fillRect/>
          </a:stretch>
        </p:blipFill>
        <p:spPr>
          <a:xfrm>
            <a:off x="381000" y="3383192"/>
            <a:ext cx="4038600" cy="13470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24400" y="91112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Definition with @agent.tool</a:t>
            </a:r>
            <a:endParaRPr lang="en-US" sz="1200" dirty="0"/>
          </a:p>
        </p:txBody>
      </p:sp>
      <p:pic>
        <p:nvPicPr>
          <p:cNvPr id="9" name="Image 2" descr="/home/donbr/AIE9/AIE9-Staging/02_Dense_Vector_Retrieval/workspace/code-images/slide12-code3.png"/>
          <p:cNvPicPr>
            <a:picLocks noChangeAspect="1"/>
          </p:cNvPicPr>
          <p:nvPr/>
        </p:nvPicPr>
        <p:blipFill>
          <a:blip r:embed="rId5"/>
          <a:srcRect r="51571"/>
          <a:stretch>
            <a:fillRect/>
          </a:stretch>
        </p:blipFill>
        <p:spPr>
          <a:xfrm>
            <a:off x="4724400" y="1158776"/>
            <a:ext cx="4071682" cy="18437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24400" y="3181978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724400" y="3429628"/>
            <a:ext cx="4038600" cy="336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4875163" y="3531129"/>
            <a:ext cx="0" cy="13335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5025926" y="3531129"/>
            <a:ext cx="36823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Safety:</a:t>
            </a: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Pydantic validates responses automatically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724400" y="3842179"/>
            <a:ext cx="4038600" cy="336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4875163" y="3943680"/>
            <a:ext cx="0" cy="13335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5025926" y="3943680"/>
            <a:ext cx="36823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DIY Code:</a:t>
            </a: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VectorDatabase, better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Agents SDK Implementation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1112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Vector Store Setup</a:t>
            </a:r>
            <a:endParaRPr lang="en-US" sz="1200" dirty="0"/>
          </a:p>
        </p:txBody>
      </p:sp>
      <p:pic>
        <p:nvPicPr>
          <p:cNvPr id="5" name="Image 0" descr="/home/donbr/AIE9/AIE9-Staging/02_Dense_Vector_Retrieval/workspace/code-images/slide13-code1.png"/>
          <p:cNvPicPr>
            <a:picLocks noChangeAspect="1"/>
          </p:cNvPicPr>
          <p:nvPr/>
        </p:nvPicPr>
        <p:blipFill>
          <a:blip r:embed="rId3"/>
          <a:srcRect r="54035"/>
          <a:stretch>
            <a:fillRect/>
          </a:stretch>
        </p:blipFill>
        <p:spPr>
          <a:xfrm>
            <a:off x="380999" y="1158775"/>
            <a:ext cx="4038601" cy="18258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3060807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OpenAI Manages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1000" y="3308457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Chunking: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69950" y="3308457"/>
            <a:ext cx="13091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tokens, 400 overlap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81000" y="3505208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69950" y="3505208"/>
            <a:ext cx="16649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text-embedding-3-large (256d)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1000" y="3701959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269950" y="3701959"/>
            <a:ext cx="15906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(semantic + keyword)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24400" y="911126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with FileSearchTool</a:t>
            </a:r>
            <a:endParaRPr lang="en-US" sz="1200" dirty="0"/>
          </a:p>
        </p:txBody>
      </p:sp>
      <p:pic>
        <p:nvPicPr>
          <p:cNvPr id="14" name="Image 1" descr="/home/donbr/AIE9/AIE9-Staging/02_Dense_Vector_Retrieval/workspace/code-images/slide13-code2.png"/>
          <p:cNvPicPr>
            <a:picLocks noChangeAspect="1"/>
          </p:cNvPicPr>
          <p:nvPr/>
        </p:nvPicPr>
        <p:blipFill>
          <a:blip r:embed="rId4"/>
          <a:srcRect r="43854"/>
          <a:stretch>
            <a:fillRect/>
          </a:stretch>
        </p:blipFill>
        <p:spPr>
          <a:xfrm>
            <a:off x="4724400" y="1158776"/>
            <a:ext cx="4038600" cy="18258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24400" y="3246694"/>
            <a:ext cx="41193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24400" y="3494344"/>
            <a:ext cx="4038600" cy="336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4875163" y="3595844"/>
            <a:ext cx="0" cy="133350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025926" y="3595844"/>
            <a:ext cx="36823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Infrastructure:</a:t>
            </a: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manual chunking or embedding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0727"/>
            <a:ext cx="1201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Aspect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87426" y="105072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DIY (aimakerspace)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72099" y="105072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PydanticAI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56772" y="1050727"/>
            <a:ext cx="2172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OpenAI Agents SDK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61777"/>
            <a:ext cx="1201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7426" y="136177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(CharacterTextSplitter)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72099" y="136177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(reuses DIY)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56772" y="1361777"/>
            <a:ext cx="2172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(800 tokens)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647527"/>
            <a:ext cx="1201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87426" y="164752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text-embedding-3-small (1536d)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72099" y="164752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text-embedding-3-small (1536d)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56772" y="1647527"/>
            <a:ext cx="2172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text-embedding-3-large (256d)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933277"/>
            <a:ext cx="1201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87426" y="193327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only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72099" y="193327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only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56772" y="1933277"/>
            <a:ext cx="2172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(semantic + keyword)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219027"/>
            <a:ext cx="1201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87426" y="221902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retrieves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72099" y="221902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decides when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56772" y="2219027"/>
            <a:ext cx="2172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decides when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504777"/>
            <a:ext cx="1201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Type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87426" y="250477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72099" y="250477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WellnessResponse (typed)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56772" y="2504777"/>
            <a:ext cx="2172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790527"/>
            <a:ext cx="1201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87426" y="279052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72099" y="279052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Tavily integration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56772" y="2790527"/>
            <a:ext cx="2172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WebSearchTool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076277"/>
            <a:ext cx="1201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7426" y="307627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72099" y="3076277"/>
            <a:ext cx="2276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control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56772" y="3076277"/>
            <a:ext cx="2172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Abstracted</a:t>
            </a:r>
            <a:endParaRPr lang="en-US" sz="9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E3E08D-93A7-6DBE-8C78-98DC0EE07559}"/>
              </a:ext>
            </a:extLst>
          </p:cNvPr>
          <p:cNvCxnSpPr/>
          <p:nvPr/>
        </p:nvCxnSpPr>
        <p:spPr>
          <a:xfrm>
            <a:off x="381000" y="1270488"/>
            <a:ext cx="83484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Each Approach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49226"/>
            <a:ext cx="2658666" cy="184427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973038"/>
            <a:ext cx="2658666" cy="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400" y="1149251"/>
            <a:ext cx="24009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(aimakerspace)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3400" y="1403152"/>
            <a:ext cx="2353866" cy="8697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RAG fundamentals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control over every step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distance metrics needed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 (no overhead)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Educational/bootcamp settings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2450604"/>
            <a:ext cx="1088827" cy="190500"/>
          </a:xfrm>
          <a:prstGeom prst="roundRect">
            <a:avLst>
              <a:gd name="adj" fmla="val 20000"/>
            </a:avLst>
          </a:prstGeom>
          <a:solidFill>
            <a:srgbClr val="D6EA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2488704"/>
            <a:ext cx="9035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First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42667" y="949226"/>
            <a:ext cx="2658666" cy="184427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42667" y="973038"/>
            <a:ext cx="2658666" cy="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95067" y="1149251"/>
            <a:ext cx="24009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95067" y="1403152"/>
            <a:ext cx="2353866" cy="8697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applications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 is important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testable architecture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Reusing existing code/DBs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FastAPI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95067" y="2450604"/>
            <a:ext cx="1032421" cy="190500"/>
          </a:xfrm>
          <a:prstGeom prst="roundRect">
            <a:avLst>
              <a:gd name="adj" fmla="val 20000"/>
            </a:avLst>
          </a:prstGeom>
          <a:solidFill>
            <a:srgbClr val="FDEBD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96568" y="2488704"/>
            <a:ext cx="8460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Quality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04334" y="949226"/>
            <a:ext cx="2658666" cy="184427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04334" y="973038"/>
            <a:ext cx="2658666" cy="0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56734" y="1149251"/>
            <a:ext cx="24009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Agents SDK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6734" y="1403152"/>
            <a:ext cx="2353866" cy="8697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prototyping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infrastructure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tracing needed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 important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Time-to-market priority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56734" y="2450604"/>
            <a:ext cx="953542" cy="190500"/>
          </a:xfrm>
          <a:prstGeom prst="roundRect">
            <a:avLst>
              <a:gd name="adj" fmla="val 20000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58235" y="2488704"/>
            <a:ext cx="7655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Deploy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1000" y="777776"/>
            <a:ext cx="40805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114276"/>
            <a:ext cx="4000500" cy="190410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capture semantics</a:t>
            </a: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Similar meanings cluster together in vector space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preserves context</a:t>
            </a: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Overlap ensures sentences aren't lost at boundaries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finds relevance</a:t>
            </a: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No keyword matching needed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grounds LLM responses</a:t>
            </a: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Retrieved context prevents hallucination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improves throughput</a:t>
            </a: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Concurrent API calls for batch embedding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3170783"/>
            <a:ext cx="4000500" cy="504825"/>
          </a:xfrm>
          <a:prstGeom prst="roundRect">
            <a:avLst>
              <a:gd name="adj" fmla="val 1509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6443" y="3323183"/>
            <a:ext cx="37696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= Retrieve + Augment + Generate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72025" y="777776"/>
            <a:ext cx="0" cy="1786979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72050" y="777776"/>
            <a:ext cx="3866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Progression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72050" y="1114276"/>
            <a:ext cx="3790950" cy="6855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First:</a:t>
            </a: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 every component before abstracting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PydanticAI:</a:t>
            </a: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Type safety + dependency injection for production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Agents:</a:t>
            </a: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Managed infrastructure for rapid deployment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72050" y="1952179"/>
            <a:ext cx="3790950" cy="612577"/>
          </a:xfrm>
          <a:prstGeom prst="roundRect">
            <a:avLst>
              <a:gd name="adj" fmla="val 12439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99000" y="2079129"/>
            <a:ext cx="3607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3 - The Agent Loop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99000" y="2294930"/>
            <a:ext cx="36077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pattern, tool use, and building autonomous agents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867</Words>
  <Application>Microsoft Office PowerPoint</Application>
  <PresentationFormat>On-screen Show (16:9)</PresentationFormat>
  <Paragraphs>240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2: Dense Vector Retrieval &amp; RAG</dc:title>
  <dc:subject>Building a Personal Wellness Assistant</dc:subject>
  <dc:creator>AI Engineering Bootcamp</dc:creator>
  <cp:lastModifiedBy>Don Branson</cp:lastModifiedBy>
  <cp:revision>3</cp:revision>
  <dcterms:created xsi:type="dcterms:W3CDTF">2026-01-15T09:53:11Z</dcterms:created>
  <dcterms:modified xsi:type="dcterms:W3CDTF">2026-01-15T10:18:42Z</dcterms:modified>
</cp:coreProperties>
</file>